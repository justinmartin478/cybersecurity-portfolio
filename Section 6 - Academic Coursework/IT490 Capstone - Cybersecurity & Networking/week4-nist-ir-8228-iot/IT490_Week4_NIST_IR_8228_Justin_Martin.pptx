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36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FC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6028/NIST.IR.8228" TargetMode="External"/><Relationship Id="rId2" Type="http://schemas.openxmlformats.org/officeDocument/2006/relationships/hyperlink" Target="https://fontawesome.com/license/free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IR 8228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9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IoT Cybersecurity and Privacy Risks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1097280" cy="0"/>
          </a:xfrm>
          <a:prstGeom prst="line">
            <a:avLst/>
          </a:prstGeom>
          <a:noFill/>
          <a:ln w="31750">
            <a:solidFill>
              <a:srgbClr val="239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017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Martin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AFC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490 Capstone   Week 4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AFC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12,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0" y="1828800"/>
            <a:ext cx="914400" cy="914400"/>
          </a:xfrm>
          <a:prstGeom prst="ellipse">
            <a:avLst/>
          </a:prstGeom>
          <a:solidFill>
            <a:srgbClr val="B9B0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0574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303520" y="2834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29400" y="1828800"/>
            <a:ext cx="914400" cy="914400"/>
          </a:xfrm>
          <a:prstGeom prst="ellipse">
            <a:avLst/>
          </a:prstGeom>
          <a:solidFill>
            <a:srgbClr val="A318A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574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46520" y="2834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772400" y="1828800"/>
            <a:ext cx="914400" cy="914400"/>
          </a:xfrm>
          <a:prstGeom prst="ellipse">
            <a:avLst/>
          </a:prstGeom>
          <a:solidFill>
            <a:srgbClr val="239CC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057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589520" y="2834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FC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NIST IR 8228 Covers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June 2019 NIST report that helps organizations assess cybersecurity and privacy risks for individual IoT devices throughout their lifecycles.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920240"/>
            <a:ext cx="39776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64008" cy="2514600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4560"/>
            <a:ext cx="594360" cy="594360"/>
          </a:xfrm>
          <a:prstGeom prst="ellipse">
            <a:avLst/>
          </a:prstGeom>
          <a:solidFill>
            <a:srgbClr val="D9E5F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3431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926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 connect digital systems to the physical world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4747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collect measurements. Actuators change physical conditions. Network interfaces connect devices to other systems.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709160" y="1920240"/>
            <a:ext cx="39776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920240"/>
            <a:ext cx="64008" cy="2514600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0" y="2194560"/>
            <a:ext cx="594360" cy="594360"/>
          </a:xfrm>
          <a:prstGeom prst="ellipse">
            <a:avLst/>
          </a:prstGeom>
          <a:solidFill>
            <a:srgbClr val="D9E5F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790" y="234315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29200" y="2926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supports existing risk management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029200" y="34747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use it to identify gaps in their current practices and adapt controls to each device and its purpose.</a:t>
            </a:r>
            <a:endParaRPr lang="en-US" sz="1200" dirty="0"/>
          </a:p>
        </p:txBody>
      </p:sp>
      <p:sp>
        <p:nvSpPr>
          <p:cNvPr id="16" name="Source"/>
          <p:cNvSpPr txBox="1"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Boeckl et al. (2019), §1 and §2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IoT Changes Risk Management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6060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06040" cy="64008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17320"/>
            <a:ext cx="640080" cy="640080"/>
          </a:xfrm>
          <a:prstGeom prst="ellipse">
            <a:avLst/>
          </a:prstGeom>
          <a:solidFill>
            <a:srgbClr val="D9E5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5773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402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effects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83464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compromised lock or temperature controller can disrupt operations. Security changes also need to respect safety and availability.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3268980" y="1097280"/>
            <a:ext cx="26060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68980" y="1097280"/>
            <a:ext cx="2606040" cy="64008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11" name="Shape 8"/>
          <p:cNvSpPr/>
          <p:nvPr/>
        </p:nvSpPr>
        <p:spPr>
          <a:xfrm>
            <a:off x="3543300" y="1417320"/>
            <a:ext cx="640080" cy="640080"/>
          </a:xfrm>
          <a:prstGeom prst="ellipse">
            <a:avLst/>
          </a:prstGeom>
          <a:solidFill>
            <a:srgbClr val="D9E5F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5773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43300" y="22402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management options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543300" y="283464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devices lack familiar administration tools, useful logs, or a way to install endpoint security software.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080760" y="1097280"/>
            <a:ext cx="26060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80760" y="1097280"/>
            <a:ext cx="2606040" cy="64008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17" name="Shape 13"/>
          <p:cNvSpPr/>
          <p:nvPr/>
        </p:nvSpPr>
        <p:spPr>
          <a:xfrm>
            <a:off x="6355080" y="1417320"/>
            <a:ext cx="640080" cy="640080"/>
          </a:xfrm>
          <a:prstGeom prst="ellipse">
            <a:avLst/>
          </a:prstGeom>
          <a:solidFill>
            <a:srgbClr val="D9E5F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5773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55080" y="22402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security and privacy capabilities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283464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support and access controls vary. A device may need protections outside the device itself.</a:t>
            </a:r>
            <a:endParaRPr lang="en-US" sz="1200" dirty="0"/>
          </a:p>
        </p:txBody>
      </p:sp>
      <p:sp>
        <p:nvSpPr>
          <p:cNvPr id="21" name="Source"/>
          <p:cNvSpPr txBox="1"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Boeckl et al. (2019), §3.1–§3.3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and Privacy Risks</a:t>
            </a:r>
            <a:endParaRPr lang="en-US" sz="2600" dirty="0"/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39776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77640" cy="64008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devices and data against compromise.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steals recordings or takes control of a connected camera.</a:t>
            </a:r>
            <a:endParaRPr lang="en-US" sz="1250" dirty="0"/>
          </a:p>
        </p:txBody>
      </p:sp>
      <p:sp>
        <p:nvSpPr>
          <p:cNvPr id="8" name="Card"/>
          <p:cNvSpPr/>
          <p:nvPr/>
        </p:nvSpPr>
        <p:spPr>
          <a:xfrm>
            <a:off x="4709160" y="1051560"/>
            <a:ext cx="39776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051560"/>
            <a:ext cx="3977640" cy="64008"/>
          </a:xfrm>
          <a:prstGeom prst="rect">
            <a:avLst/>
          </a:prstGeom>
          <a:solidFill>
            <a:srgbClr val="1B7F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8348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1737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how processing personal information can harm people, including authorized use.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24688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keeps employee movement records for an unnecessary purpose.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1736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657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encryption protects records, but it does not decide whether collecting those records is appropriate.</a:t>
            </a:r>
            <a:endParaRPr lang="en-US" sz="1500" dirty="0"/>
          </a:p>
        </p:txBody>
      </p:sp>
      <p:sp>
        <p:nvSpPr>
          <p:cNvPr id="15" name="Source"/>
          <p:cNvSpPr txBox="1"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Boeckl et al. (2019), §3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Risk Mitigation Goals</a:t>
            </a:r>
            <a:endParaRPr lang="en-US" sz="2600" dirty="0"/>
          </a:p>
        </p:txBody>
      </p:sp>
      <p:sp>
        <p:nvSpPr>
          <p:cNvPr id="3" name="Figure frame"/>
          <p:cNvSpPr/>
          <p:nvPr/>
        </p:nvSpPr>
        <p:spPr>
          <a:xfrm>
            <a:off x="1417320" y="1005840"/>
            <a:ext cx="630936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pic>
        <p:nvPicPr>
          <p:cNvPr id="4" name="Image 0" descr="NIST IR 8228 Figure 4: three shields labeled Protect Device Security, Protect Data Security, and Protect Individuals' Privac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115568"/>
            <a:ext cx="5943600" cy="25868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security prevents misuse of the device. Data security protects information. Privacy addresses the effects of processing information about people.</a:t>
            </a:r>
            <a:endParaRPr lang="en-US" sz="1400" dirty="0"/>
          </a:p>
        </p:txBody>
      </p:sp>
      <p:sp>
        <p:nvSpPr>
          <p:cNvPr id="6" name="Source"/>
          <p:cNvSpPr txBox="1"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Boeckl et al. (2019), §4, Figure 4, p. 11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Across the Device Lifecycle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760220" y="1600200"/>
            <a:ext cx="5623560" cy="0"/>
          </a:xfrm>
          <a:prstGeom prst="line">
            <a:avLst/>
          </a:prstGeom>
          <a:noFill/>
          <a:ln w="31750">
            <a:solidFill>
              <a:srgbClr val="AFC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8740" y="1188720"/>
            <a:ext cx="822960" cy="822960"/>
          </a:xfrm>
          <a:prstGeom prst="ellipse">
            <a:avLst/>
          </a:prstGeom>
          <a:solidFill>
            <a:srgbClr val="315C9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3944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006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Before purchase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2578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purpose, device owner, data collected, and vendor support period. Confirm that required protections are available.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160520" y="1188720"/>
            <a:ext cx="822960" cy="822960"/>
          </a:xfrm>
          <a:prstGeom prst="ellipse">
            <a:avLst/>
          </a:prstGeom>
          <a:solidFill>
            <a:srgbClr val="315C9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13944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9184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During operation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333756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approved configurations, restrict access, monitor available logs, and manage updates around operational needs.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972300" y="1188720"/>
            <a:ext cx="822960" cy="822960"/>
          </a:xfrm>
          <a:prstGeom prst="ellipse">
            <a:avLst/>
          </a:prstGeom>
          <a:solidFill>
            <a:srgbClr val="315C9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3944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10362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At retirement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14934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credentials and network access. Erase stored data and address copies held in vendor services according to retention rules.</a:t>
            </a:r>
            <a:endParaRPr lang="en-US" sz="1250" dirty="0"/>
          </a:p>
        </p:txBody>
      </p:sp>
      <p:sp>
        <p:nvSpPr>
          <p:cNvPr id="16" name="Source"/>
          <p:cNvSpPr txBox="1"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Boeckl et al. (2019), §5.1–§5.2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ABC IoT Scenario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Seattle and Denver add connected security cameras and badge readers. The devices support building security and send records to a managed service.</a:t>
            </a:r>
            <a:endParaRPr lang="en-US" sz="1500" dirty="0"/>
          </a:p>
        </p:txBody>
      </p:sp>
      <p:sp>
        <p:nvSpPr>
          <p:cNvPr id="4" name="Card"/>
          <p:cNvSpPr/>
          <p:nvPr/>
        </p:nvSpPr>
        <p:spPr>
          <a:xfrm>
            <a:off x="457200" y="1828800"/>
            <a:ext cx="26060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2606040" cy="64008"/>
          </a:xfrm>
          <a:prstGeom prst="rect">
            <a:avLst/>
          </a:prstGeom>
          <a:solidFill>
            <a:srgbClr val="B9B02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03120"/>
            <a:ext cx="548640" cy="548640"/>
          </a:xfrm>
          <a:prstGeom prst="ellipse">
            <a:avLst/>
          </a:prstGeom>
          <a:solidFill>
            <a:srgbClr val="B9B0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E7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risk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8346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could change camera settings or interfere with building access.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3268980" y="1828800"/>
            <a:ext cx="26060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68980" y="1828800"/>
            <a:ext cx="2606040" cy="64008"/>
          </a:xfrm>
          <a:prstGeom prst="rect">
            <a:avLst/>
          </a:prstGeom>
          <a:solidFill>
            <a:srgbClr val="A318AA"/>
          </a:solidFill>
          <a:ln/>
        </p:spPr>
      </p:sp>
      <p:sp>
        <p:nvSpPr>
          <p:cNvPr id="12" name="Shape 9"/>
          <p:cNvSpPr/>
          <p:nvPr/>
        </p:nvSpPr>
        <p:spPr>
          <a:xfrm>
            <a:off x="3543300" y="2103120"/>
            <a:ext cx="548640" cy="548640"/>
          </a:xfrm>
          <a:prstGeom prst="ellipse">
            <a:avLst/>
          </a:prstGeom>
          <a:solidFill>
            <a:srgbClr val="A318A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2402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22910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1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risk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543300" y="28346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and badge records can expose employee identities and movement patterns.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6080760" y="1828800"/>
            <a:ext cx="26060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80760" y="1828800"/>
            <a:ext cx="2606040" cy="64008"/>
          </a:xfrm>
          <a:prstGeom prst="rect">
            <a:avLst/>
          </a:prstGeom>
          <a:solidFill>
            <a:srgbClr val="239CCC"/>
          </a:solidFill>
          <a:ln/>
        </p:spPr>
      </p:sp>
      <p:sp>
        <p:nvSpPr>
          <p:cNvPr id="18" name="Shape 14"/>
          <p:cNvSpPr/>
          <p:nvPr/>
        </p:nvSpPr>
        <p:spPr>
          <a:xfrm>
            <a:off x="6355080" y="2103120"/>
            <a:ext cx="548640" cy="548640"/>
          </a:xfrm>
          <a:prstGeom prst="ellipse">
            <a:avLst/>
          </a:prstGeom>
          <a:solidFill>
            <a:srgbClr val="239CC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4028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04088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risk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355080" y="283464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authorized access can create problems if staff use records beyond their approved purpose.</a:t>
            </a:r>
            <a:endParaRPr lang="en-US" sz="1300" dirty="0"/>
          </a:p>
        </p:txBody>
      </p:sp>
      <p:sp>
        <p:nvSpPr>
          <p:cNvPr id="22" name="Source"/>
          <p:cNvSpPr txBox="1"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scenario applying Boeckl et al. (2019), §§3–5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for Company ABC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2926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to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E7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50800" cap="flat" cmpd="sng" algn="ctr">
                      <a:solidFill>
                        <a:srgbClr val="7E78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 devices and restrict management 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Inventory, access rules, update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318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50800" cap="flat" cmpd="sng" algn="ctr">
                      <a:solidFill>
                        <a:srgbClr val="A31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 transfers and limit access to stored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and access logs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7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50800" cap="flat" cmpd="sng" algn="ctr">
                      <a:solidFill>
                        <a:srgbClr val="1B7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 collection, retention, and approved uses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map and retention policy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265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dependency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50800" cap="flat" cmpd="sng" algn="ctr">
                      <a:solidFill>
                        <a:srgbClr val="5265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support terms and remote 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dates and vendor agreement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examples depend on the devices and business requirements. They are not a universal checklist.</a:t>
            </a:r>
            <a:endParaRPr lang="en-US" sz="1200" dirty="0"/>
          </a:p>
        </p:txBody>
      </p:sp>
      <p:sp>
        <p:nvSpPr>
          <p:cNvPr id="5" name="Source"/>
          <p:cNvSpPr txBox="1"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controls applying Boeckl et al. (2019), §4 and §5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and Risk Decisions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and facilities teams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060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each device must do and which operational disruptions the organization can tolerate.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168396" y="1188720"/>
            <a:ext cx="0" cy="3200400"/>
          </a:xfrm>
          <a:prstGeom prst="line">
            <a:avLst/>
          </a:prstGeom>
          <a:noFill/>
          <a:ln w="12700">
            <a:solidFill>
              <a:srgbClr val="D5DEE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123444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6042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and security teams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3360420" y="26060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devices, assess technical limitations, and maintain controls that fit the environment.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980176" y="1188720"/>
            <a:ext cx="0" cy="3200400"/>
          </a:xfrm>
          <a:prstGeom prst="line">
            <a:avLst/>
          </a:prstGeom>
          <a:noFill/>
          <a:ln w="12700">
            <a:solidFill>
              <a:srgbClr val="D5DEE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17220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procurement teams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172200" y="26060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personal information processing and vendor commitments. Assign an accountable owner for unresolved risk.</a:t>
            </a:r>
            <a:endParaRPr lang="en-US" sz="1300" dirty="0"/>
          </a:p>
        </p:txBody>
      </p:sp>
      <p:sp>
        <p:nvSpPr>
          <p:cNvPr id="14" name="Source"/>
          <p:cNvSpPr txBox="1"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Boeckl et al. (2019), §5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FC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Take From the Report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connected device needs an owner and a risk decision.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097280" cy="0"/>
          </a:xfrm>
          <a:prstGeom prst="line">
            <a:avLst/>
          </a:prstGeom>
          <a:noFill/>
          <a:ln w="31750">
            <a:solidFill>
              <a:srgbClr val="239C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Company ABC, the first step is understanding what each device does and where its data goes. That gives the organization a basis for choosing controls and deciding whether the remaining risk is acceptable.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FC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review continues when device use, vendor support, or business needs change.</a:t>
            </a:r>
            <a:endParaRPr lang="en-US" sz="1300" dirty="0"/>
          </a:p>
        </p:txBody>
      </p:sp>
      <p:sp>
        <p:nvSpPr>
          <p:cNvPr id="7" name="Source"/>
          <p:cNvSpPr txBox="1"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Boeckl et al. (2019), §5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FC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HangRef"/>
          <p:cNvSpPr txBox="1"/>
          <p:nvPr/>
        </p:nvSpPr>
        <p:spPr>
          <a:xfrm>
            <a:off x="457200" y="105156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Boeckl, K., Fagan, M., Fisher, W., Lefkovitz, N., Megas, K. N., Nadeau, E., Piccarreta, B., O’Rourke, D. G., &amp; Scarfone, K. (2019). </a:t>
            </a:r>
            <a:pPr marL="457200" indent="-457200">
              <a:buNone/>
            </a:pPr>
            <a:r>
              <a:rPr lang="en-US" sz="1300" i="1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Considerations for managing Internet of Things (IoT) cybersecurity and privacy risks</a:t>
            </a:r>
            <a:pPr marL="457200" indent="-45720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(NISTIR 8228). National Institute of Standards and Technology. </a:t>
            </a:r>
            <a:pPr marL="457200" indent="-457200">
              <a:buNone/>
            </a:pPr>
            <a:r>
              <a:rPr lang="en-US" sz="1300" u="sng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https://doi.org/10.6028/NIST.IR.8228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credits</a:t>
            </a:r>
            <a:endParaRPr lang="en-US" sz="1400" dirty="0"/>
          </a:p>
        </p:txBody>
      </p:sp>
      <p:sp>
        <p:nvSpPr>
          <p:cNvPr id="5" name="HangCredits"/>
          <p:cNvSpPr txBox="1"/>
          <p:nvPr/>
        </p:nvSpPr>
        <p:spPr>
          <a:xfrm>
            <a:off x="457200" y="265176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5. Figure 4, Risk Mitigation Goals. From </a:t>
            </a:r>
            <a:pPr marL="457200" indent="-457200">
              <a:spcAft>
                <a:spcPts val="800"/>
              </a:spcAft>
              <a:buNone/>
            </a:pPr>
            <a:r>
              <a:rPr lang="en-US" sz="1200" i="1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Considerations for managing Internet of Things (IoT) cybersecurity and privacy risks</a:t>
            </a:r>
            <a:pPr marL="457200" indent="-45720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(p. 11), by K. Boeckl et al., 2019, National Institute of Standards and Technology (https://doi.org/10.6028/NIST.IR.8228). In the public domain.</a:t>
            </a:r>
            <a:endParaRPr lang="en-US" sz="1200" dirty="0"/>
          </a:p>
          <a:p>
            <a:pPr marL="457200" indent="-45720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Icons. Font Awesome Free by Fonticons, Inc., licensed under CC BY 4.0. </a:t>
            </a:r>
            <a:pPr marL="457200" indent="-457200">
              <a:spcAft>
                <a:spcPts val="800"/>
              </a:spcAft>
              <a:buNone/>
            </a:pPr>
            <a:r>
              <a:rPr lang="en-US" sz="1200" u="sng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https://fontawesome.com/license/free</a:t>
            </a:r>
            <a:endParaRPr lang="en-US" sz="1200" dirty="0"/>
          </a:p>
          <a:p>
            <a:pPr marL="457200" indent="-457200">
              <a:spcAft>
                <a:spcPts val="800"/>
              </a:spcAft>
              <a:buNone/>
            </a:pPr>
            <a:r>
              <a:rPr lang="en-US" sz="12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ABC examples and slide layouts are original applications of the report.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NIST IR 8228: Managing IoT Cybersecurity and Privacy Risks</dc:title>
  <dc:subject>PptxGenJS Presentation</dc:subject>
  <dc:creator>Justin Martin</dc:creator>
  <cp:lastModifiedBy>Justin Martin</cp:lastModifiedBy>
  <cp:revision>1</cp:revision>
  <dcterms:created xsi:type="dcterms:W3CDTF">2026-10-12T14:52:56Z</dcterms:created>
  <dcterms:modified xsi:type="dcterms:W3CDTF">2026-10-12T14:52:56Z</dcterms:modified>
</cp:coreProperties>
</file>