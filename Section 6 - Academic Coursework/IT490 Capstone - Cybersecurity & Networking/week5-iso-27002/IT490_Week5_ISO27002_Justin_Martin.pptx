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6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so.org/standard/54533.html" TargetMode="External"/><Relationship Id="rId2" Type="http://schemas.openxmlformats.org/officeDocument/2006/relationships/hyperlink" Target="https://www.iso.org/standard/75652.html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27002:2013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controls in practice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standard provides and how company ABC can use 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154680"/>
            <a:ext cx="1097280" cy="0"/>
          </a:xfrm>
          <a:prstGeom prst="line">
            <a:avLst/>
          </a:prstGeom>
          <a:noFill/>
          <a:ln w="31750">
            <a:solidFill>
              <a:srgbClr val="4FB3A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38328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Justin Martin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IT490 Capstone   October 18, 2026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8F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assigned 2013 edition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868680"/>
            <a:ext cx="2560320" cy="960120"/>
          </a:xfrm>
          <a:prstGeom prst="rect">
            <a:avLst/>
          </a:prstGeom>
          <a:solidFill>
            <a:srgbClr val="1F4570"/>
          </a:solidFill>
          <a:ln w="9525">
            <a:solidFill>
              <a:srgbClr val="2B55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0" y="8686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7269480" y="86868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2560320" cy="960120"/>
          </a:xfrm>
          <a:prstGeom prst="rect">
            <a:avLst/>
          </a:prstGeom>
          <a:solidFill>
            <a:srgbClr val="1F4570"/>
          </a:solidFill>
          <a:ln w="9525">
            <a:solidFill>
              <a:srgbClr val="2B55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7920" y="20116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01168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3154680"/>
            <a:ext cx="2560320" cy="960120"/>
          </a:xfrm>
          <a:prstGeom prst="rect">
            <a:avLst/>
          </a:prstGeom>
          <a:solidFill>
            <a:srgbClr val="1F4570"/>
          </a:solidFill>
          <a:ln w="9525">
            <a:solidFill>
              <a:srgbClr val="2B55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154680"/>
            <a:ext cx="1097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7269480" y="3154680"/>
            <a:ext cx="1280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FC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ISO 27002 provides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international code of practice for selecting, implementing and managing information security controls.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26060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2024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94560"/>
            <a:ext cx="685800" cy="68580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2366010"/>
            <a:ext cx="342900" cy="3429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information access to authorized people.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68980" y="1920240"/>
            <a:ext cx="26060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68980" y="192024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2" name="Shape 9"/>
          <p:cNvSpPr/>
          <p:nvPr/>
        </p:nvSpPr>
        <p:spPr>
          <a:xfrm>
            <a:off x="3543300" y="2194560"/>
            <a:ext cx="685800" cy="68580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0" y="236601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4330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354330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information against improper changes.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080760" y="1920240"/>
            <a:ext cx="2606040" cy="251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0760" y="192024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8" name="Shape 14"/>
          <p:cNvSpPr/>
          <p:nvPr/>
        </p:nvSpPr>
        <p:spPr>
          <a:xfrm>
            <a:off x="6355080" y="2194560"/>
            <a:ext cx="685800" cy="68580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530" y="2366010"/>
            <a:ext cx="342900" cy="342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55080" y="3063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6355080" y="35204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information and services accessible when needed.</a:t>
            </a:r>
            <a:endParaRPr lang="en-US" sz="1350" dirty="0"/>
          </a:p>
        </p:txBody>
      </p:sp>
      <p:sp>
        <p:nvSpPr>
          <p:cNvPr id="22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ISO/IEC 27002:2013, Introduction and Clause 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and ISO 27002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640080" cy="64008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4859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554480" y="17373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9E5F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55448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requirements for an information security management system (ISMS).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can seek certification against these requirements.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09160" y="1051560"/>
            <a:ext cx="39776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51560"/>
            <a:ext cx="3977640" cy="64008"/>
          </a:xfrm>
          <a:prstGeom prst="rect">
            <a:avLst/>
          </a:prstGeom>
          <a:solidFill>
            <a:srgbClr val="1B7F79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325880"/>
            <a:ext cx="640080" cy="640080"/>
          </a:xfrm>
          <a:prstGeom prst="ellipse">
            <a:avLst/>
          </a:prstGeom>
          <a:solidFill>
            <a:srgbClr val="D4EC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148590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0644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5806440" y="1737360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D4ECE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806440" y="17373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983480" y="2240280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control guidance that supports the management system.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use it to develop and improve their own security practices.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solidFill>
            <a:srgbClr val="17365B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27002 itself is guidance and does not provide organizational certification.</a:t>
            </a:r>
            <a:endParaRPr lang="en-US" sz="1400" dirty="0"/>
          </a:p>
        </p:txBody>
      </p:sp>
      <p:sp>
        <p:nvSpPr>
          <p:cNvPr id="21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ISO/IEC 27002:2013, Introduction and Clause 1; ISO official 27002 overview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of the 2013 edition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468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46888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 clauses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944368" y="1554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337560" y="1097280"/>
            <a:ext cx="2468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097280"/>
            <a:ext cx="246888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1188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50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security categories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824728" y="15544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468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097280"/>
            <a:ext cx="246888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280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50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1031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controls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control entry explains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606040" cy="685800"/>
          </a:xfrm>
          <a:prstGeom prst="rect">
            <a:avLst/>
          </a:prstGeom>
          <a:solidFill>
            <a:srgbClr val="D9E5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intended control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68980" y="3429000"/>
            <a:ext cx="2606040" cy="685800"/>
          </a:xfrm>
          <a:prstGeom prst="rect">
            <a:avLst/>
          </a:prstGeom>
          <a:solidFill>
            <a:srgbClr val="D9E5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5186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guidance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3429000"/>
            <a:ext cx="2606040" cy="685800"/>
          </a:xfrm>
          <a:prstGeom prst="rect">
            <a:avLst/>
          </a:prstGeom>
          <a:solidFill>
            <a:srgbClr val="D9E5F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34290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information that helps apply it</a:t>
            </a:r>
            <a:endParaRPr lang="en-US" sz="1400" dirty="0"/>
          </a:p>
        </p:txBody>
      </p:sp>
      <p:sp>
        <p:nvSpPr>
          <p:cNvPr id="24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ISO/IEC 27002:2013, Clauses 4.1 and 4.2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control areas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005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0058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policies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517904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5179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51790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of information security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029968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29968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0299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029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 security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542032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42032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5420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25420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management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054096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054096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05409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30540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566160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5661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078224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078224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40782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40782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and environmental security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63440" y="1005840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1005840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663440" y="100584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349240" y="10058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security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663440" y="1517904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1517904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63440" y="15179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349240" y="151790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security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63440" y="2029968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2029968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663440" y="20299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2029968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acquisition, development and maintenance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663440" y="2542032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3440" y="2542032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663440" y="254203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5349240" y="2542032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relationships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63440" y="3054096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3054096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663440" y="305409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349240" y="3054096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incident management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4663440" y="3566160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63440" y="3566160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663440" y="35661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5349240" y="35661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security aspects of business continuity management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663440" y="4078224"/>
            <a:ext cx="4023360" cy="438912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63440" y="4078224"/>
            <a:ext cx="548640" cy="438912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663440" y="40782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5349240" y="4078224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59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ISO/IEC 27002:2013, Clauses 5 through 18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selection starts with risk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463040" y="1554480"/>
            <a:ext cx="6217920" cy="0"/>
          </a:xfrm>
          <a:prstGeom prst="line">
            <a:avLst/>
          </a:prstGeom>
          <a:noFill/>
          <a:ln w="31750">
            <a:solidFill>
              <a:srgbClr val="AFC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8992" y="1170432"/>
            <a:ext cx="768096" cy="768096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1362456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Understand the business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important information, systems and the consequences of losing them.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151937" y="1170432"/>
            <a:ext cx="768096" cy="768096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3961" y="136245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530145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Assess requirements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2575865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threats, vulnerabilities, business needs and legal or contractual duties.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224882" y="1170432"/>
            <a:ext cx="768096" cy="768096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906" y="136245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603090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Select controls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4648810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safeguards that address the risks. Add organization specific controls where needed.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297826" y="1170432"/>
            <a:ext cx="768096" cy="768096"/>
          </a:xfrm>
          <a:prstGeom prst="ellipse">
            <a:avLst/>
          </a:prstGeom>
          <a:solidFill>
            <a:srgbClr val="315C9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9850" y="1362456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6034" y="2103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Review decisions</a:t>
            </a:r>
            <a:endParaRPr lang="en-US" sz="1450" dirty="0"/>
          </a:p>
        </p:txBody>
      </p:sp>
      <p:sp>
        <p:nvSpPr>
          <p:cNvPr id="19" name="Text 13"/>
          <p:cNvSpPr txBox="1"/>
          <p:nvPr/>
        </p:nvSpPr>
        <p:spPr>
          <a:xfrm>
            <a:off x="6721754" y="269748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priorities and accepted risks. Reassess controls as the business changes.</a:t>
            </a:r>
            <a:endParaRPr lang="en-US" sz="125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ISO/IEC 27002:2013, Introduction 0.2 through 0.5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guidance at company ABC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16002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28016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0110" y="142875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information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50876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customer records, assign owners and define handling rules.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508760" y="2212848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D9E5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08760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8.1, 8.2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09160" y="100584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05840"/>
            <a:ext cx="64008" cy="16002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3" name="Shape 10"/>
          <p:cNvSpPr/>
          <p:nvPr/>
        </p:nvSpPr>
        <p:spPr>
          <a:xfrm>
            <a:off x="4983480" y="128016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2070" y="1428750"/>
            <a:ext cx="297180" cy="2971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6072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access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5760720" y="1645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privileged access and review who still needs it.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760720" y="2212848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D9E5F4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760720" y="22128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9.2.3, 9.2.5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457200" y="278892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" y="2788920"/>
            <a:ext cx="64008" cy="16002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21" name="Shape 17"/>
          <p:cNvSpPr/>
          <p:nvPr/>
        </p:nvSpPr>
        <p:spPr>
          <a:xfrm>
            <a:off x="731520" y="306324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3211830"/>
            <a:ext cx="297180" cy="29718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50876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disruption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150876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backups and test restoration against business needs.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1508760" y="3995928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D9E5F4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508760" y="3995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12.3.1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4709160" y="278892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709160" y="2788920"/>
            <a:ext cx="64008" cy="160020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29" name="Shape 24"/>
          <p:cNvSpPr/>
          <p:nvPr/>
        </p:nvSpPr>
        <p:spPr>
          <a:xfrm>
            <a:off x="4983480" y="3063240"/>
            <a:ext cx="594360" cy="594360"/>
          </a:xfrm>
          <a:prstGeom prst="ellipse">
            <a:avLst/>
          </a:prstGeom>
          <a:solidFill>
            <a:srgbClr val="D9E5F4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070" y="3211830"/>
            <a:ext cx="297180" cy="2971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76072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incidents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576072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response roles and practice reporting and escalation.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5760720" y="3995928"/>
            <a:ext cx="1737360" cy="256032"/>
          </a:xfrm>
          <a:prstGeom prst="roundRect">
            <a:avLst>
              <a:gd name="adj" fmla="val 21429"/>
            </a:avLst>
          </a:prstGeom>
          <a:solidFill>
            <a:srgbClr val="D9E5F4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5760720" y="39959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16.1.1, 16.1.2, 16.1.5</a:t>
            </a:r>
            <a:endParaRPr lang="en-US" sz="1050" dirty="0"/>
          </a:p>
        </p:txBody>
      </p:sp>
      <p:sp>
        <p:nvSpPr>
          <p:cNvPr id="35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application based on ISO/IEC 27002:2013, Clauses 8, 9, 12 and 16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rules and communications security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1B7F7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13.1.1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controls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permits approved traffic and documents the business reason for each firewall rule.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898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8980" y="1051560"/>
            <a:ext cx="2606040" cy="64008"/>
          </a:xfrm>
          <a:prstGeom prst="rect">
            <a:avLst/>
          </a:prstGeom>
          <a:solidFill>
            <a:srgbClr val="1B7F7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330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13.1.2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services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4330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specifies security requirements and responsibilities for its network providers.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51560"/>
            <a:ext cx="2606040" cy="64008"/>
          </a:xfrm>
          <a:prstGeom prst="rect">
            <a:avLst/>
          </a:prstGeom>
          <a:solidFill>
            <a:srgbClr val="1B7F7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2801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13.1.3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28600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separates user systems, servers and network management according to risk.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1736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8404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approval and event logging support rule maintenance.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9E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ABC implementation examples, not prescribed firewall commands.</a:t>
            </a:r>
            <a:endParaRPr lang="en-US" sz="135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ISO/IEC 27002:2013, Controls 13.1.1, 13.1.2, 13.1.3, 12.1.2 and 12.4.1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rollout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policy, resources and decisions about risk acceptance.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450592" y="1143000"/>
            <a:ext cx="0" cy="329184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18872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60604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owners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260604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information that needs protection and approve appropriate access.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53712" y="1143000"/>
            <a:ext cx="0" cy="329184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18872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0916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and security teams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70916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practices with selected controls, assign actions and implement changes.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6656832" y="1143000"/>
            <a:ext cx="0" cy="3291840"/>
          </a:xfrm>
          <a:prstGeom prst="line">
            <a:avLst/>
          </a:prstGeom>
          <a:noFill/>
          <a:ln w="12700">
            <a:solidFill>
              <a:srgbClr val="D5DEEA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118872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812280" y="1874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and suppliers</a:t>
            </a:r>
            <a:endParaRPr lang="en-US" sz="1600" dirty="0"/>
          </a:p>
        </p:txBody>
      </p:sp>
      <p:sp>
        <p:nvSpPr>
          <p:cNvPr id="17" name="Text 11"/>
          <p:cNvSpPr txBox="1"/>
          <p:nvPr/>
        </p:nvSpPr>
        <p:spPr>
          <a:xfrm>
            <a:off x="6812280" y="256032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relevant procedures and report concerns through agreed channels.</a:t>
            </a:r>
            <a:endParaRPr lang="en-US" sz="1300" dirty="0"/>
          </a:p>
        </p:txBody>
      </p:sp>
      <p:sp>
        <p:nvSpPr>
          <p:cNvPr id="18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rollout based on ISO/IEC 27002:2013, Clauses 5, 6 and Introduction 0.3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controls work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8016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173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261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reviews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645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approvals and evidence of removing unnecessary privileges.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463040" y="221284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D4EC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46304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9.2.5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100584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28016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4173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15000" y="1261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testing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0" y="1645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restoration results and resolve failures.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715000" y="221284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D4ECE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715000" y="221284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12.3.1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278892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6304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validation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permitted and blocked traffic. Review logs and configuration changes.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1463040" y="399592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D4ECEA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463040" y="3995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12.4.1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709160" y="2788920"/>
            <a:ext cx="397764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83480" y="3063240"/>
            <a:ext cx="548640" cy="548640"/>
          </a:xfrm>
          <a:prstGeom prst="ellipse">
            <a:avLst/>
          </a:prstGeom>
          <a:solidFill>
            <a:srgbClr val="1B7F79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320040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71500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follow up</a:t>
            </a:r>
            <a:endParaRPr lang="en-US" sz="1600" dirty="0"/>
          </a:p>
        </p:txBody>
      </p:sp>
      <p:sp>
        <p:nvSpPr>
          <p:cNvPr id="28" name="Text 22"/>
          <p:cNvSpPr txBox="1"/>
          <p:nvPr/>
        </p:nvSpPr>
        <p:spPr>
          <a:xfrm>
            <a:off x="5715000" y="34290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unresolved findings, assign owners and check completion.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715000" y="3995928"/>
            <a:ext cx="822960" cy="256032"/>
          </a:xfrm>
          <a:prstGeom prst="roundRect">
            <a:avLst>
              <a:gd name="adj" fmla="val 21429"/>
            </a:avLst>
          </a:prstGeom>
          <a:solidFill>
            <a:srgbClr val="D4ECEA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715000" y="39959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7F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18.2.3</a:t>
            </a:r>
            <a:endParaRPr lang="en-US" sz="1050" dirty="0"/>
          </a:p>
        </p:txBody>
      </p:sp>
      <p:sp>
        <p:nvSpPr>
          <p:cNvPr id="31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evidence based on ISO/IEC 27002:2013, Controls 9.2.5, 12.3.1, 12.4.1 and 18.2.3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the standard helps answer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ABC use all 114?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depends on risk and requirements. Some controls may not apply, and additional ones may be necessary.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6898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68980" y="105156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4330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543300" y="1783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guarantee security?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4330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need implementation, testing and regular review. The guidance cannot eliminate every risk.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1051560"/>
            <a:ext cx="2606040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1051560"/>
            <a:ext cx="2606040" cy="64008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5508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AFC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78308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ABC certify to 27002?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ISMS certification is against ISO 27001. ISO 27002 supplies supporting control guidance.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17365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3840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ABC, the value is a consistent basis for security decisions and evidence that safeguards work.</a:t>
            </a:r>
            <a:endParaRPr lang="en-US" sz="1400" dirty="0"/>
          </a:p>
        </p:txBody>
      </p:sp>
      <p:sp>
        <p:nvSpPr>
          <p:cNvPr id="20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ISO/IEC 27002:2013, Introduction 0.3 and 0.4; ISO official 27002 overview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edition context</a:t>
            </a:r>
            <a:endParaRPr lang="en-US" sz="2600" dirty="0"/>
          </a:p>
        </p:txBody>
      </p:sp>
      <p:sp>
        <p:nvSpPr>
          <p:cNvPr id="3" name="HangRef"/>
          <p:cNvSpPr txBox="1"/>
          <p:nvPr/>
        </p:nvSpPr>
        <p:spPr>
          <a:xfrm>
            <a:off x="457200" y="10515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(2013). </a:t>
            </a:r>
            <a:pPr marL="457200" indent="-45720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technology — Security techniques — Code of practice for information security controls</a:t>
            </a:r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(ISO/IEC Standard No. 27002:2013, 2nd ed.). Assigned course PDF.</a:t>
            </a:r>
            <a:endParaRPr lang="en-US" sz="1300" dirty="0"/>
          </a:p>
          <a:p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(n.d.-a). </a:t>
            </a:r>
            <a:pPr marL="457200" indent="-45720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27002:2013</a:t>
            </a:r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marL="457200" indent="-457200">
              <a:spcAft>
                <a:spcPts val="1000"/>
              </a:spcAft>
              <a:buNone/>
            </a:pPr>
            <a:r>
              <a:rPr lang="en-US" sz="1300" u="sng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https://www.iso.org/standard/54533.html</a:t>
            </a:r>
            <a:endParaRPr lang="en-US" sz="1300" dirty="0"/>
          </a:p>
          <a:p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Organization for Standardization. (n.d.-b). </a:t>
            </a:r>
            <a:pPr marL="457200" indent="-457200">
              <a:spcAft>
                <a:spcPts val="1000"/>
              </a:spcAft>
              <a:buNone/>
            </a:pPr>
            <a:r>
              <a:rPr lang="en-US" sz="1300" i="1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27002:2022</a:t>
            </a:r>
            <a:pPr marL="457200" indent="-457200">
              <a:spcAft>
                <a:spcPts val="1000"/>
              </a:spcAft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pPr marL="457200" indent="-457200">
              <a:spcAft>
                <a:spcPts val="1000"/>
              </a:spcAft>
              <a:buNone/>
            </a:pPr>
            <a:r>
              <a:rPr lang="en-US" sz="1300" u="sng" dirty="0">
                <a:solidFill>
                  <a:srgbClr val="315C9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https://www.iso.org/standard/75652.html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3429000"/>
            <a:ext cx="8229600" cy="1005840"/>
          </a:xfrm>
          <a:prstGeom prst="rect">
            <a:avLst/>
          </a:prstGeom>
          <a:solidFill>
            <a:srgbClr val="D9E5F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3429000"/>
            <a:ext cx="64008" cy="1005840"/>
          </a:xfrm>
          <a:prstGeom prst="rect">
            <a:avLst/>
          </a:prstGeom>
          <a:solidFill>
            <a:srgbClr val="315C9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3520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 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replaced the 2013 edition with the 2022 edition. This presentation uses the assigned 2013 structure and control numbers. Clause references appear on the relevant slides.</a:t>
            </a:r>
            <a:endParaRPr lang="en-US" sz="1300" dirty="0"/>
          </a:p>
        </p:txBody>
      </p:sp>
      <p:sp>
        <p:nvSpPr>
          <p:cNvPr id="7" name="Source"/>
          <p:cNvSpPr txBox="1"/>
          <p:nvPr/>
        </p:nvSpPr>
        <p:spPr>
          <a:xfrm>
            <a:off x="457200" y="47548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examples for company ABC are illustrative applications.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2657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ISO/IEC 27002:2013: Information security controls in practice</dc:title>
  <dc:subject>PptxGenJS Presentation</dc:subject>
  <dc:creator>Justin Martin</dc:creator>
  <cp:lastModifiedBy>Justin Martin</cp:lastModifiedBy>
  <cp:revision>1</cp:revision>
  <dcterms:created xsi:type="dcterms:W3CDTF">2026-10-18T19:09:30Z</dcterms:created>
  <dcterms:modified xsi:type="dcterms:W3CDTF">2026-10-18T19:09:30Z</dcterms:modified>
</cp:coreProperties>
</file>